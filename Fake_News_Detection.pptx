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3" r:id="rId17"/>
    <p:sldId id="261" r:id="rId11"/>
    <p:sldId id="262" r:id="rId12"/>
  </p:sldIdLst>
  <p:sldSz cx="18288000" cy="10287000"/>
  <p:notesSz cx="6858000" cy="9144000"/>
  <p:embeddedFontLst>
    <p:embeddedFont>
      <p:font typeface="DM Sans Bold" charset="1" panose="00000000000000000000"/>
      <p:regular r:id="rId13"/>
    </p:embeddedFont>
    <p:embeddedFont>
      <p:font typeface="Canva Sans Bold" charset="1" panose="020B0803030501040103"/>
      <p:regular r:id="rId14"/>
    </p:embeddedFont>
    <p:embeddedFont>
      <p:font typeface="DM Sans" charset="1" panose="00000000000000000000"/>
      <p:regular r:id="rId15"/>
    </p:embeddedFont>
    <p:embeddedFont>
      <p:font typeface="Garet Bold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19.png"/><Relationship Id="rId21" Type="http://schemas.openxmlformats.org/officeDocument/2006/relationships/image" Target="../media/image20.svg"/><Relationship Id="rId22" Type="http://schemas.openxmlformats.org/officeDocument/2006/relationships/image" Target="../media/image21.png"/><Relationship Id="rId23" Type="http://schemas.openxmlformats.org/officeDocument/2006/relationships/image" Target="../media/image22.svg"/><Relationship Id="rId24" Type="http://schemas.openxmlformats.org/officeDocument/2006/relationships/image" Target="../media/image23.png"/><Relationship Id="rId25" Type="http://schemas.openxmlformats.org/officeDocument/2006/relationships/image" Target="../media/image24.svg"/><Relationship Id="rId26" Type="http://schemas.openxmlformats.org/officeDocument/2006/relationships/image" Target="../media/image25.png"/><Relationship Id="rId27" Type="http://schemas.openxmlformats.org/officeDocument/2006/relationships/image" Target="../media/image26.svg"/><Relationship Id="rId28" Type="http://schemas.openxmlformats.org/officeDocument/2006/relationships/image" Target="../media/image27.png"/><Relationship Id="rId29" Type="http://schemas.openxmlformats.org/officeDocument/2006/relationships/image" Target="../media/image28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9.png"/><Relationship Id="rId11" Type="http://schemas.openxmlformats.org/officeDocument/2006/relationships/image" Target="../media/image20.svg"/><Relationship Id="rId12" Type="http://schemas.openxmlformats.org/officeDocument/2006/relationships/image" Target="../media/image25.png"/><Relationship Id="rId13" Type="http://schemas.openxmlformats.org/officeDocument/2006/relationships/image" Target="../media/image2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16.svg"/><Relationship Id="rId12" Type="http://schemas.openxmlformats.org/officeDocument/2006/relationships/image" Target="../media/image19.png"/><Relationship Id="rId13" Type="http://schemas.openxmlformats.org/officeDocument/2006/relationships/image" Target="../media/image20.svg"/><Relationship Id="rId14" Type="http://schemas.openxmlformats.org/officeDocument/2006/relationships/image" Target="../media/image23.png"/><Relationship Id="rId15" Type="http://schemas.openxmlformats.org/officeDocument/2006/relationships/image" Target="../media/image24.svg"/><Relationship Id="rId16" Type="http://schemas.openxmlformats.org/officeDocument/2006/relationships/image" Target="../media/image27.png"/><Relationship Id="rId17" Type="http://schemas.openxmlformats.org/officeDocument/2006/relationships/image" Target="../media/image2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Relationship Id="rId4" Type="http://schemas.openxmlformats.org/officeDocument/2006/relationships/image" Target="../media/image31.png"/><Relationship Id="rId5" Type="http://schemas.openxmlformats.org/officeDocument/2006/relationships/image" Target="../media/image3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image" Target="../media/image33.png"/><Relationship Id="rId5" Type="http://schemas.openxmlformats.org/officeDocument/2006/relationships/image" Target="../media/image34.svg"/><Relationship Id="rId6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23.png"/><Relationship Id="rId7" Type="http://schemas.openxmlformats.org/officeDocument/2006/relationships/image" Target="../media/image24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23.png"/><Relationship Id="rId7" Type="http://schemas.openxmlformats.org/officeDocument/2006/relationships/image" Target="../media/image24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11.png"/><Relationship Id="rId11" Type="http://schemas.openxmlformats.org/officeDocument/2006/relationships/image" Target="../media/image12.svg"/><Relationship Id="rId12" Type="http://schemas.openxmlformats.org/officeDocument/2006/relationships/image" Target="../media/image13.png"/><Relationship Id="rId13" Type="http://schemas.openxmlformats.org/officeDocument/2006/relationships/image" Target="../media/image14.svg"/><Relationship Id="rId14" Type="http://schemas.openxmlformats.org/officeDocument/2006/relationships/image" Target="../media/image15.png"/><Relationship Id="rId15" Type="http://schemas.openxmlformats.org/officeDocument/2006/relationships/image" Target="../media/image16.svg"/><Relationship Id="rId16" Type="http://schemas.openxmlformats.org/officeDocument/2006/relationships/image" Target="../media/image17.png"/><Relationship Id="rId17" Type="http://schemas.openxmlformats.org/officeDocument/2006/relationships/image" Target="../media/image18.svg"/><Relationship Id="rId18" Type="http://schemas.openxmlformats.org/officeDocument/2006/relationships/image" Target="../media/image19.png"/><Relationship Id="rId19" Type="http://schemas.openxmlformats.org/officeDocument/2006/relationships/image" Target="../media/image20.svg"/><Relationship Id="rId20" Type="http://schemas.openxmlformats.org/officeDocument/2006/relationships/image" Target="../media/image21.png"/><Relationship Id="rId21" Type="http://schemas.openxmlformats.org/officeDocument/2006/relationships/image" Target="../media/image22.svg"/><Relationship Id="rId22" Type="http://schemas.openxmlformats.org/officeDocument/2006/relationships/image" Target="../media/image23.png"/><Relationship Id="rId23" Type="http://schemas.openxmlformats.org/officeDocument/2006/relationships/image" Target="../media/image24.svg"/><Relationship Id="rId24" Type="http://schemas.openxmlformats.org/officeDocument/2006/relationships/image" Target="../media/image25.png"/><Relationship Id="rId25" Type="http://schemas.openxmlformats.org/officeDocument/2006/relationships/image" Target="../media/image26.svg"/><Relationship Id="rId26" Type="http://schemas.openxmlformats.org/officeDocument/2006/relationships/image" Target="../media/image27.png"/><Relationship Id="rId27" Type="http://schemas.openxmlformats.org/officeDocument/2006/relationships/image" Target="../media/image28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861489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30709" y="9258300"/>
            <a:ext cx="3059829" cy="751049"/>
          </a:xfrm>
          <a:custGeom>
            <a:avLst/>
            <a:gdLst/>
            <a:ahLst/>
            <a:cxnLst/>
            <a:rect r="r" b="b" t="t" l="l"/>
            <a:pathLst>
              <a:path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36705" y="6409875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15205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686214" y="-2578193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409323" y="-2700100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831481" y="-1626507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7259300" y="2262342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2570549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-5282649">
            <a:off x="16440369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6978638" y="-642644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3688802" y="3136543"/>
            <a:ext cx="10910396" cy="320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8"/>
              </a:lnSpc>
            </a:pPr>
            <a:r>
              <a:rPr lang="en-US" b="true" sz="1299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Fake News Detection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14102" y="6624033"/>
            <a:ext cx="8459795" cy="1156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800" spc="-8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Presented by: Omar Ahmed Shoman</a:t>
            </a:r>
          </a:p>
          <a:p>
            <a:pPr algn="ctr">
              <a:lnSpc>
                <a:spcPts val="2800"/>
              </a:lnSpc>
            </a:pPr>
            <a:r>
              <a:rPr lang="en-US" b="true" sz="2800" spc="-8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Rawan Mohamed Majed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795076" y="2262342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139074" y="5617692"/>
            <a:ext cx="623844" cy="792183"/>
          </a:xfrm>
          <a:custGeom>
            <a:avLst/>
            <a:gdLst/>
            <a:ahLst/>
            <a:cxnLst/>
            <a:rect r="r" b="b" t="t" l="l"/>
            <a:pathLst>
              <a:path h="792183" w="623844">
                <a:moveTo>
                  <a:pt x="0" y="0"/>
                </a:moveTo>
                <a:lnTo>
                  <a:pt x="623844" y="0"/>
                </a:lnTo>
                <a:lnTo>
                  <a:pt x="623844" y="792183"/>
                </a:lnTo>
                <a:lnTo>
                  <a:pt x="0" y="792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94934" y="2091045"/>
            <a:ext cx="6264366" cy="6104909"/>
          </a:xfrm>
          <a:custGeom>
            <a:avLst/>
            <a:gdLst/>
            <a:ahLst/>
            <a:cxnLst/>
            <a:rect r="r" b="b" t="t" l="l"/>
            <a:pathLst>
              <a:path h="6104909" w="6264366">
                <a:moveTo>
                  <a:pt x="0" y="0"/>
                </a:moveTo>
                <a:lnTo>
                  <a:pt x="6264366" y="0"/>
                </a:lnTo>
                <a:lnTo>
                  <a:pt x="6264366" y="6104910"/>
                </a:lnTo>
                <a:lnTo>
                  <a:pt x="0" y="6104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682462"/>
            <a:ext cx="8894518" cy="5030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7"/>
              </a:lnSpc>
            </a:pPr>
          </a:p>
          <a:p>
            <a:pPr algn="l" marL="0" indent="0" lvl="0">
              <a:lnSpc>
                <a:spcPts val="3987"/>
              </a:lnSpc>
              <a:spcBef>
                <a:spcPct val="0"/>
              </a:spcBef>
            </a:pPr>
            <a:r>
              <a:rPr lang="en-US" b="true" sz="2953" spc="17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</a:t>
            </a:r>
            <a:r>
              <a:rPr lang="en-US" b="true" sz="2953" spc="177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ake news is a big problem on the internet today. It spreads quickly and can cause confusion or harm.</a:t>
            </a:r>
          </a:p>
          <a:p>
            <a:pPr algn="l" marL="0" indent="0" lvl="0">
              <a:lnSpc>
                <a:spcPts val="3987"/>
              </a:lnSpc>
              <a:spcBef>
                <a:spcPct val="0"/>
              </a:spcBef>
            </a:pPr>
            <a:r>
              <a:rPr lang="en-US" b="true" sz="2953" spc="177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In this project, we build a smart system using machine learning to check if a news article is real or fake.</a:t>
            </a:r>
          </a:p>
          <a:p>
            <a:pPr algn="l" marL="0" indent="0" lvl="0">
              <a:lnSpc>
                <a:spcPts val="3987"/>
              </a:lnSpc>
              <a:spcBef>
                <a:spcPct val="0"/>
              </a:spcBef>
            </a:pPr>
            <a:r>
              <a:rPr lang="en-US" b="true" sz="2953" spc="177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We use the title and text of the news to help the model learn and make predictions.</a:t>
            </a:r>
          </a:p>
          <a:p>
            <a:pPr algn="l" marL="0" indent="0" lvl="0">
              <a:lnSpc>
                <a:spcPts val="3987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353489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003948" y="-189060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5282649">
            <a:off x="16004285" y="265374"/>
            <a:ext cx="4017207" cy="1370872"/>
          </a:xfrm>
          <a:custGeom>
            <a:avLst/>
            <a:gdLst/>
            <a:ahLst/>
            <a:cxnLst/>
            <a:rect r="r" b="b" t="t" l="l"/>
            <a:pathLst>
              <a:path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2786991"/>
            <a:ext cx="7848753" cy="118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6"/>
              </a:lnSpc>
            </a:pPr>
            <a:r>
              <a:rPr lang="en-US" sz="90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Idea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886757" y="5074942"/>
            <a:ext cx="20061513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4732501" y="4823914"/>
            <a:ext cx="502056" cy="50205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38078" y="4823914"/>
            <a:ext cx="502056" cy="5020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394360" y="4856379"/>
            <a:ext cx="502056" cy="50205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49128" y="4823914"/>
            <a:ext cx="502056" cy="5020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732501" y="1907439"/>
            <a:ext cx="8822997" cy="2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730"/>
              </a:lnSpc>
              <a:spcBef>
                <a:spcPct val="0"/>
              </a:spcBef>
            </a:pPr>
            <a:r>
              <a:rPr lang="en-US" b="true" sz="9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 Preprocessing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9433" y="5616041"/>
            <a:ext cx="2197323" cy="70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5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32501" y="5613880"/>
            <a:ext cx="2197323" cy="70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5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9433" y="6477174"/>
            <a:ext cx="2646492" cy="2327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19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</a:t>
            </a:r>
            <a:r>
              <a:rPr lang="en-US" sz="19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 training and testing datasets were combined into a single unified dataset for consistency.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32501" y="6428841"/>
            <a:ext cx="2732862" cy="1546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19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1.R</a:t>
            </a:r>
            <a:r>
              <a:rPr lang="en-US" sz="19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emoved unnecessary duplicate rows and extra values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94360" y="5613880"/>
            <a:ext cx="2197323" cy="70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5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94360" y="6477174"/>
            <a:ext cx="2747991" cy="1546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19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1.-Res</a:t>
            </a:r>
            <a:r>
              <a:rPr lang="en-US" sz="19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et the index to start organizing the data from a clean structure.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49128" y="5599593"/>
            <a:ext cx="2197323" cy="70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5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20450" y="6477174"/>
            <a:ext cx="2646492" cy="193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19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1.-Use</a:t>
            </a:r>
            <a:r>
              <a:rPr lang="en-US" sz="19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 TF-IDF Vectorizer to convert text to numerical features</a:t>
            </a:r>
          </a:p>
          <a:p>
            <a:pPr algn="l">
              <a:lnSpc>
                <a:spcPts val="3119"/>
              </a:lnSpc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-1573240" y="8893298"/>
            <a:ext cx="4051334" cy="2765036"/>
          </a:xfrm>
          <a:custGeom>
            <a:avLst/>
            <a:gdLst/>
            <a:ahLst/>
            <a:cxnLst/>
            <a:rect r="r" b="b" t="t" l="l"/>
            <a:pathLst>
              <a:path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262955" y="886458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-674156" y="-1322787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1101574" y="9560661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9653627" y="-3037933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-5400000">
            <a:off x="4745771" y="-187733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2932282" y="9271808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5262955" y="-1072630"/>
            <a:ext cx="1996345" cy="2149497"/>
          </a:xfrm>
          <a:custGeom>
            <a:avLst/>
            <a:gdLst/>
            <a:ahLst/>
            <a:cxnLst/>
            <a:rect r="r" b="b" t="t" l="l"/>
            <a:pathLst>
              <a:path h="2149497" w="1996345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2" id="32"/>
          <p:cNvSpPr/>
          <p:nvPr/>
        </p:nvSpPr>
        <p:spPr>
          <a:xfrm>
            <a:off x="452427" y="5060655"/>
            <a:ext cx="20061513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5494014" y="4856379"/>
            <a:ext cx="502056" cy="502056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5498977" y="5599593"/>
            <a:ext cx="2197323" cy="70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51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498977" y="6428841"/>
            <a:ext cx="2646492" cy="1546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19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1.-S</a:t>
            </a:r>
            <a:r>
              <a:rPr lang="en-US" sz="19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plit data into training and testing sets</a:t>
            </a:r>
          </a:p>
          <a:p>
            <a:pPr algn="l">
              <a:lnSpc>
                <a:spcPts val="311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282649">
            <a:off x="581459" y="3681954"/>
            <a:ext cx="7567145" cy="2582288"/>
          </a:xfrm>
          <a:custGeom>
            <a:avLst/>
            <a:gdLst/>
            <a:ahLst/>
            <a:cxnLst/>
            <a:rect r="r" b="b" t="t" l="l"/>
            <a:pathLst>
              <a:path h="2582288" w="7567145">
                <a:moveTo>
                  <a:pt x="0" y="0"/>
                </a:moveTo>
                <a:lnTo>
                  <a:pt x="7567145" y="0"/>
                </a:lnTo>
                <a:lnTo>
                  <a:pt x="7567145" y="2582289"/>
                </a:lnTo>
                <a:lnTo>
                  <a:pt x="0" y="2582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55218"/>
            <a:ext cx="5513037" cy="6211873"/>
          </a:xfrm>
          <a:custGeom>
            <a:avLst/>
            <a:gdLst/>
            <a:ahLst/>
            <a:cxnLst/>
            <a:rect r="r" b="b" t="t" l="l"/>
            <a:pathLst>
              <a:path h="6211873" w="5513037">
                <a:moveTo>
                  <a:pt x="0" y="0"/>
                </a:moveTo>
                <a:lnTo>
                  <a:pt x="5513037" y="0"/>
                </a:lnTo>
                <a:lnTo>
                  <a:pt x="5513037" y="6211872"/>
                </a:lnTo>
                <a:lnTo>
                  <a:pt x="0" y="621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43217" y="1508147"/>
            <a:ext cx="7848753" cy="2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Modelling and Algorithms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52945" y="4510307"/>
            <a:ext cx="7429297" cy="1596384"/>
            <a:chOff x="0" y="0"/>
            <a:chExt cx="3301910" cy="709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1910" cy="709504"/>
            </a:xfrm>
            <a:custGeom>
              <a:avLst/>
              <a:gdLst/>
              <a:ahLst/>
              <a:cxnLst/>
              <a:rect r="r" b="b" t="t" l="l"/>
              <a:pathLst>
                <a:path h="709504" w="3301910">
                  <a:moveTo>
                    <a:pt x="31262" y="0"/>
                  </a:moveTo>
                  <a:lnTo>
                    <a:pt x="3270648" y="0"/>
                  </a:lnTo>
                  <a:cubicBezTo>
                    <a:pt x="3278939" y="0"/>
                    <a:pt x="3286891" y="3294"/>
                    <a:pt x="3292754" y="9157"/>
                  </a:cubicBezTo>
                  <a:cubicBezTo>
                    <a:pt x="3298616" y="15019"/>
                    <a:pt x="3301910" y="22971"/>
                    <a:pt x="3301910" y="31262"/>
                  </a:cubicBezTo>
                  <a:lnTo>
                    <a:pt x="3301910" y="678242"/>
                  </a:lnTo>
                  <a:cubicBezTo>
                    <a:pt x="3301910" y="686533"/>
                    <a:pt x="3298616" y="694485"/>
                    <a:pt x="3292754" y="700348"/>
                  </a:cubicBezTo>
                  <a:cubicBezTo>
                    <a:pt x="3286891" y="706210"/>
                    <a:pt x="3278939" y="709504"/>
                    <a:pt x="3270648" y="709504"/>
                  </a:cubicBezTo>
                  <a:lnTo>
                    <a:pt x="31262" y="709504"/>
                  </a:lnTo>
                  <a:cubicBezTo>
                    <a:pt x="22971" y="709504"/>
                    <a:pt x="15019" y="706210"/>
                    <a:pt x="9157" y="700348"/>
                  </a:cubicBezTo>
                  <a:cubicBezTo>
                    <a:pt x="3294" y="694485"/>
                    <a:pt x="0" y="686533"/>
                    <a:pt x="0" y="678242"/>
                  </a:cubicBezTo>
                  <a:lnTo>
                    <a:pt x="0" y="31262"/>
                  </a:lnTo>
                  <a:cubicBezTo>
                    <a:pt x="0" y="22971"/>
                    <a:pt x="3294" y="15019"/>
                    <a:pt x="9157" y="9157"/>
                  </a:cubicBezTo>
                  <a:cubicBezTo>
                    <a:pt x="15019" y="3294"/>
                    <a:pt x="22971" y="0"/>
                    <a:pt x="31262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301910" cy="738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  <a:r>
                <a:rPr lang="en-US" sz="1399" b="true">
                  <a:solidFill>
                    <a:srgbClr val="1817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• I started the modeling phase by applying different algorithms. First, I used Random Forest, Decision Tree, Logistic Regression, and Multinomial Naive</a:t>
              </a:r>
              <a:r>
                <a:rPr lang="en-US" sz="1399" b="true">
                  <a:solidFill>
                    <a:srgbClr val="1817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Bayes, which achieved the </a:t>
              </a:r>
              <a:r>
                <a:rPr lang="en-US" sz="1399" b="true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highest accuracy</a:t>
              </a:r>
              <a:r>
                <a:rPr lang="en-US" sz="1399" b="true">
                  <a:solidFill>
                    <a:srgbClr val="1817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with our text data</a:t>
              </a:r>
            </a:p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752945" y="6830591"/>
            <a:ext cx="7501400" cy="2328226"/>
            <a:chOff x="0" y="0"/>
            <a:chExt cx="3333955" cy="10347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33955" cy="1034767"/>
            </a:xfrm>
            <a:custGeom>
              <a:avLst/>
              <a:gdLst/>
              <a:ahLst/>
              <a:cxnLst/>
              <a:rect r="r" b="b" t="t" l="l"/>
              <a:pathLst>
                <a:path h="1034767" w="3333955">
                  <a:moveTo>
                    <a:pt x="30962" y="0"/>
                  </a:moveTo>
                  <a:lnTo>
                    <a:pt x="3302993" y="0"/>
                  </a:lnTo>
                  <a:cubicBezTo>
                    <a:pt x="3311205" y="0"/>
                    <a:pt x="3319080" y="3262"/>
                    <a:pt x="3324887" y="9069"/>
                  </a:cubicBezTo>
                  <a:cubicBezTo>
                    <a:pt x="3330693" y="14875"/>
                    <a:pt x="3333955" y="22750"/>
                    <a:pt x="3333955" y="30962"/>
                  </a:cubicBezTo>
                  <a:lnTo>
                    <a:pt x="3333955" y="1003805"/>
                  </a:lnTo>
                  <a:cubicBezTo>
                    <a:pt x="3333955" y="1012017"/>
                    <a:pt x="3330693" y="1019892"/>
                    <a:pt x="3324887" y="1025698"/>
                  </a:cubicBezTo>
                  <a:cubicBezTo>
                    <a:pt x="3319080" y="1031505"/>
                    <a:pt x="3311205" y="1034767"/>
                    <a:pt x="3302993" y="1034767"/>
                  </a:cubicBezTo>
                  <a:lnTo>
                    <a:pt x="30962" y="1034767"/>
                  </a:lnTo>
                  <a:cubicBezTo>
                    <a:pt x="22750" y="1034767"/>
                    <a:pt x="14875" y="1031505"/>
                    <a:pt x="9069" y="1025698"/>
                  </a:cubicBezTo>
                  <a:cubicBezTo>
                    <a:pt x="3262" y="1019892"/>
                    <a:pt x="0" y="1012017"/>
                    <a:pt x="0" y="1003805"/>
                  </a:cubicBezTo>
                  <a:lnTo>
                    <a:pt x="0" y="30962"/>
                  </a:lnTo>
                  <a:cubicBezTo>
                    <a:pt x="0" y="22750"/>
                    <a:pt x="3262" y="14875"/>
                    <a:pt x="9069" y="9069"/>
                  </a:cubicBezTo>
                  <a:cubicBezTo>
                    <a:pt x="14875" y="3262"/>
                    <a:pt x="22750" y="0"/>
                    <a:pt x="30962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333955" cy="1063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1817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-Then I tested K-Nearest Neighbors (KNN) and Support Vector Machine (SVM), but their performance was significantly </a:t>
              </a:r>
              <a:r>
                <a:rPr lang="en-US" sz="1599" b="true">
                  <a:solidFill>
                    <a:srgbClr val="FF313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lower</a:t>
              </a:r>
              <a:r>
                <a:rPr lang="en-US" sz="1599" b="true">
                  <a:solidFill>
                    <a:srgbClr val="1817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.This is because text data, after vectorization, becomes high-dimensional </a:t>
              </a:r>
              <a:r>
                <a:rPr lang="en-US" sz="1599" b="true">
                  <a:solidFill>
                    <a:srgbClr val="1817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and sparse — making distance-based algorithms like KNN less effective, and SVM often requires extensive parameter tuning and more computational resources</a:t>
              </a:r>
            </a:p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78160" y="1721498"/>
            <a:ext cx="4208573" cy="4247184"/>
          </a:xfrm>
          <a:custGeom>
            <a:avLst/>
            <a:gdLst/>
            <a:ahLst/>
            <a:cxnLst/>
            <a:rect r="r" b="b" t="t" l="l"/>
            <a:pathLst>
              <a:path h="4247184" w="4208573">
                <a:moveTo>
                  <a:pt x="0" y="0"/>
                </a:moveTo>
                <a:lnTo>
                  <a:pt x="4208574" y="0"/>
                </a:lnTo>
                <a:lnTo>
                  <a:pt x="4208574" y="4247184"/>
                </a:lnTo>
                <a:lnTo>
                  <a:pt x="0" y="4247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819907" y="2639048"/>
            <a:ext cx="7181225" cy="5008904"/>
          </a:xfrm>
          <a:custGeom>
            <a:avLst/>
            <a:gdLst/>
            <a:ahLst/>
            <a:cxnLst/>
            <a:rect r="r" b="b" t="t" l="l"/>
            <a:pathLst>
              <a:path h="5008904" w="7181225">
                <a:moveTo>
                  <a:pt x="0" y="0"/>
                </a:moveTo>
                <a:lnTo>
                  <a:pt x="7181224" y="0"/>
                </a:lnTo>
                <a:lnTo>
                  <a:pt x="7181224" y="5008904"/>
                </a:lnTo>
                <a:lnTo>
                  <a:pt x="0" y="5008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17429" y="686085"/>
            <a:ext cx="10358550" cy="1952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4"/>
              </a:lnSpc>
            </a:pPr>
            <a:r>
              <a:rPr lang="en-US" sz="7767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Model Evaluation &amp;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28635" y="4122337"/>
          <a:ext cx="7200000" cy="6044151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700000"/>
                <a:gridCol w="2500000"/>
              </a:tblGrid>
              <a:tr h="863450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FF3333"/>
                          </a:solidFill>
                          <a:latin typeface="Poppins"/>
                        </a:rPr>
                        <a:t>Model</a:t>
                      </a:r>
                    </a:p>
                  </a:txBody>
                  <a:tcPr anchor="ctr" marL="150000" marR="15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3333"/>
                          </a:solidFill>
                          <a:latin typeface="Poppins"/>
                        </a:rPr>
                        <a:t>Accuracy</a:t>
                      </a:r>
                    </a:p>
                  </a:txBody>
                  <a:tcPr anchor="ctr" marL="150000" marR="150000" marT="60000" marB="60000">
                    <a:solidFill>
                      <a:srgbClr val="FFFFFF"/>
                    </a:solidFill>
                  </a:tcPr>
                </a:tc>
              </a:tr>
              <a:tr h="863450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111111"/>
                          </a:solidFill>
                          <a:latin typeface="Poppins"/>
                        </a:rPr>
                        <a:t>Multinomial NB</a:t>
                      </a:r>
                    </a:p>
                  </a:txBody>
                  <a:tcPr anchor="ctr" marL="150000" marR="15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111111"/>
                          </a:solidFill>
                          <a:latin typeface="Poppins"/>
                        </a:rPr>
                        <a:t>93.30%</a:t>
                      </a:r>
                    </a:p>
                  </a:txBody>
                  <a:tcPr anchor="ctr" marL="150000" marR="150000" marT="60000" marB="60000">
                    <a:solidFill>
                      <a:srgbClr val="FFFFFF"/>
                    </a:solidFill>
                  </a:tcPr>
                </a:tc>
              </a:tr>
              <a:tr h="863450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111111"/>
                          </a:solidFill>
                          <a:latin typeface="Poppins"/>
                        </a:rPr>
                        <a:t>Random Forest</a:t>
                      </a:r>
                    </a:p>
                  </a:txBody>
                  <a:tcPr anchor="ctr" marL="150000" marR="15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111111"/>
                          </a:solidFill>
                          <a:latin typeface="Poppins"/>
                        </a:rPr>
                        <a:t>96.53%</a:t>
                      </a:r>
                    </a:p>
                  </a:txBody>
                  <a:tcPr anchor="ctr" marL="150000" marR="150000" marT="60000" marB="60000">
                    <a:solidFill>
                      <a:srgbClr val="FFFFFF"/>
                    </a:solidFill>
                  </a:tcPr>
                </a:tc>
              </a:tr>
              <a:tr h="863450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111111"/>
                          </a:solidFill>
                          <a:latin typeface="Poppins"/>
                        </a:rPr>
                        <a:t>Decision Tree</a:t>
                      </a:r>
                    </a:p>
                  </a:txBody>
                  <a:tcPr anchor="ctr" marL="150000" marR="15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111111"/>
                          </a:solidFill>
                          <a:latin typeface="Poppins"/>
                        </a:rPr>
                        <a:t>93.97%</a:t>
                      </a:r>
                    </a:p>
                  </a:txBody>
                  <a:tcPr anchor="ctr" marL="150000" marR="150000" marT="60000" marB="60000">
                    <a:solidFill>
                      <a:srgbClr val="FFFFFF"/>
                    </a:solidFill>
                  </a:tcPr>
                </a:tc>
              </a:tr>
              <a:tr h="863450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111111"/>
                          </a:solidFill>
                          <a:latin typeface="Poppins"/>
                        </a:rPr>
                        <a:t>Logistic Regression</a:t>
                      </a:r>
                    </a:p>
                  </a:txBody>
                  <a:tcPr anchor="ctr" marL="150000" marR="15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111111"/>
                          </a:solidFill>
                          <a:latin typeface="Poppins"/>
                        </a:rPr>
                        <a:t>98.05%</a:t>
                      </a:r>
                    </a:p>
                  </a:txBody>
                  <a:tcPr anchor="ctr" marL="150000" marR="150000" marT="60000" marB="60000">
                    <a:solidFill>
                      <a:srgbClr val="FFFFFF"/>
                    </a:solidFill>
                  </a:tcPr>
                </a:tc>
              </a:tr>
              <a:tr h="863450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111111"/>
                          </a:solidFill>
                          <a:latin typeface="Poppins"/>
                        </a:rPr>
                        <a:t>KNN</a:t>
                      </a:r>
                    </a:p>
                  </a:txBody>
                  <a:tcPr anchor="ctr" marL="150000" marR="15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111111"/>
                          </a:solidFill>
                          <a:latin typeface="Poppins"/>
                        </a:rPr>
                        <a:t>87.34%</a:t>
                      </a:r>
                    </a:p>
                  </a:txBody>
                  <a:tcPr anchor="ctr" marL="150000" marR="150000" marT="60000" marB="60000">
                    <a:solidFill>
                      <a:srgbClr val="FFFFFF"/>
                    </a:solidFill>
                  </a:tcPr>
                </a:tc>
              </a:tr>
              <a:tr h="863451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111111"/>
                          </a:solidFill>
                          <a:latin typeface="Poppins"/>
                        </a:rPr>
                        <a:t>SVC</a:t>
                      </a:r>
                    </a:p>
                  </a:txBody>
                  <a:tcPr anchor="ctr" marL="150000" marR="15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1E66E0"/>
                          </a:solidFill>
                          <a:latin typeface="Poppins"/>
                        </a:rPr>
                        <a:t>98.69%</a:t>
                      </a:r>
                    </a:p>
                  </a:txBody>
                  <a:tcPr anchor="ctr" marL="150000" marR="150000" marT="60000" marB="6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643492"/>
            <a:ext cx="7501336" cy="229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8"/>
              </a:lnSpc>
            </a:pPr>
            <a:r>
              <a:rPr lang="en-US" sz="907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Challenges &amp; Fixes</a:t>
            </a:r>
          </a:p>
          <a:p>
            <a:pPr algn="l">
              <a:lnSpc>
                <a:spcPts val="8798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9975489" y="1170261"/>
            <a:ext cx="6998061" cy="2330137"/>
            <a:chOff x="0" y="0"/>
            <a:chExt cx="2342659" cy="7800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42659" cy="780032"/>
            </a:xfrm>
            <a:custGeom>
              <a:avLst/>
              <a:gdLst/>
              <a:ahLst/>
              <a:cxnLst/>
              <a:rect r="r" b="b" t="t" l="l"/>
              <a:pathLst>
                <a:path h="78003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763438"/>
                  </a:lnTo>
                  <a:cubicBezTo>
                    <a:pt x="2342659" y="772603"/>
                    <a:pt x="2335229" y="780032"/>
                    <a:pt x="2326064" y="780032"/>
                  </a:cubicBezTo>
                  <a:lnTo>
                    <a:pt x="16594" y="780032"/>
                  </a:lnTo>
                  <a:cubicBezTo>
                    <a:pt x="7430" y="780032"/>
                    <a:pt x="0" y="772603"/>
                    <a:pt x="0" y="76343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4775"/>
              <a:ext cx="2342659" cy="675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491672" y="2024301"/>
            <a:ext cx="1578952" cy="10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75489" y="3862348"/>
            <a:ext cx="6998061" cy="2332570"/>
            <a:chOff x="0" y="0"/>
            <a:chExt cx="2342659" cy="7808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42659" cy="780847"/>
            </a:xfrm>
            <a:custGeom>
              <a:avLst/>
              <a:gdLst/>
              <a:ahLst/>
              <a:cxnLst/>
              <a:rect r="r" b="b" t="t" l="l"/>
              <a:pathLst>
                <a:path h="780847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764253"/>
                  </a:lnTo>
                  <a:cubicBezTo>
                    <a:pt x="2342659" y="773417"/>
                    <a:pt x="2335229" y="780847"/>
                    <a:pt x="2326064" y="780847"/>
                  </a:cubicBezTo>
                  <a:lnTo>
                    <a:pt x="16594" y="780847"/>
                  </a:lnTo>
                  <a:cubicBezTo>
                    <a:pt x="7430" y="780847"/>
                    <a:pt x="0" y="773417"/>
                    <a:pt x="0" y="764253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5725"/>
              <a:ext cx="2342659" cy="695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75489" y="6557226"/>
            <a:ext cx="6998061" cy="2362435"/>
            <a:chOff x="0" y="0"/>
            <a:chExt cx="2342659" cy="7908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42659" cy="790845"/>
            </a:xfrm>
            <a:custGeom>
              <a:avLst/>
              <a:gdLst/>
              <a:ahLst/>
              <a:cxnLst/>
              <a:rect r="r" b="b" t="t" l="l"/>
              <a:pathLst>
                <a:path h="790845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774250"/>
                  </a:lnTo>
                  <a:cubicBezTo>
                    <a:pt x="2342659" y="783415"/>
                    <a:pt x="2335229" y="790845"/>
                    <a:pt x="2326064" y="790845"/>
                  </a:cubicBezTo>
                  <a:lnTo>
                    <a:pt x="16594" y="790845"/>
                  </a:lnTo>
                  <a:cubicBezTo>
                    <a:pt x="7430" y="790845"/>
                    <a:pt x="0" y="783415"/>
                    <a:pt x="0" y="774250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2342659" cy="705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491672" y="4717783"/>
            <a:ext cx="1578952" cy="10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91672" y="7411266"/>
            <a:ext cx="1578952" cy="10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18908" y="1730935"/>
            <a:ext cx="4475564" cy="112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95"/>
              </a:lnSpc>
              <a:spcBef>
                <a:spcPct val="0"/>
              </a:spcBef>
            </a:pPr>
            <a:r>
              <a:rPr lang="en-US" b="true" sz="1700" spc="2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Overfitting: </a:t>
            </a:r>
            <a:r>
              <a:rPr lang="en-US" b="true" sz="1700" spc="27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Decision Tree hit 99%+ on training but less on test data. Fixed by tuning max_depth, min_samples_leaf, and validating with GridSearchCV.</a:t>
            </a:r>
          </a:p>
          <a:p>
            <a:pPr algn="just" marL="0" indent="0" lvl="0">
              <a:lnSpc>
                <a:spcPts val="2295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070625" y="4390214"/>
            <a:ext cx="4419373" cy="111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b="true" sz="1708" spc="2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 Leakage: </a:t>
            </a:r>
            <a:r>
              <a:rPr lang="en-US" b="true" sz="1708" spc="27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Real articles all contained the word "Reuters", so the model learned to detect that word instead of real patterns. Removed it before retraining.</a:t>
            </a:r>
          </a:p>
          <a:p>
            <a:pPr algn="just" marL="0" indent="0" lvl="0">
              <a:lnSpc>
                <a:spcPts val="2026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218908" y="7108374"/>
            <a:ext cx="4120836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3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Final Model: </a:t>
            </a:r>
            <a:r>
              <a:rPr lang="en-US" b="true" sz="1999" spc="31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Logistic Regression was selected for deployment, balancing strong accuracy with better generalization than the Decision Tree.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848571" y="8919661"/>
            <a:ext cx="3870946" cy="950141"/>
          </a:xfrm>
          <a:custGeom>
            <a:avLst/>
            <a:gdLst/>
            <a:ahLst/>
            <a:cxnLst/>
            <a:rect r="r" b="b" t="t" l="l"/>
            <a:pathLst>
              <a:path h="950141" w="3870946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472906" y="-2364815"/>
            <a:ext cx="4980952" cy="3731186"/>
          </a:xfrm>
          <a:custGeom>
            <a:avLst/>
            <a:gdLst/>
            <a:ahLst/>
            <a:cxnLst/>
            <a:rect r="r" b="b" t="t" l="l"/>
            <a:pathLst>
              <a:path h="3731186" w="4980952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3431074" y="8919661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-848571" y="-744412"/>
            <a:ext cx="2597326" cy="2796583"/>
          </a:xfrm>
          <a:custGeom>
            <a:avLst/>
            <a:gdLst/>
            <a:ahLst/>
            <a:cxnLst/>
            <a:rect r="r" b="b" t="t" l="l"/>
            <a:pathLst>
              <a:path h="2796583" w="2597326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643492"/>
            <a:ext cx="7501336" cy="229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8"/>
              </a:lnSpc>
            </a:pPr>
            <a:r>
              <a:rPr lang="en-US" sz="907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Future Work:</a:t>
            </a:r>
          </a:p>
          <a:p>
            <a:pPr algn="l">
              <a:lnSpc>
                <a:spcPts val="8798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9975489" y="1170261"/>
            <a:ext cx="6998061" cy="2330137"/>
            <a:chOff x="0" y="0"/>
            <a:chExt cx="2342659" cy="7800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42659" cy="780032"/>
            </a:xfrm>
            <a:custGeom>
              <a:avLst/>
              <a:gdLst/>
              <a:ahLst/>
              <a:cxnLst/>
              <a:rect r="r" b="b" t="t" l="l"/>
              <a:pathLst>
                <a:path h="78003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763438"/>
                  </a:lnTo>
                  <a:cubicBezTo>
                    <a:pt x="2342659" y="772603"/>
                    <a:pt x="2335229" y="780032"/>
                    <a:pt x="2326064" y="780032"/>
                  </a:cubicBezTo>
                  <a:lnTo>
                    <a:pt x="16594" y="780032"/>
                  </a:lnTo>
                  <a:cubicBezTo>
                    <a:pt x="7430" y="780032"/>
                    <a:pt x="0" y="772603"/>
                    <a:pt x="0" y="76343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4775"/>
              <a:ext cx="2342659" cy="675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491672" y="2024301"/>
            <a:ext cx="1578952" cy="10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75489" y="3862348"/>
            <a:ext cx="6998061" cy="2332570"/>
            <a:chOff x="0" y="0"/>
            <a:chExt cx="2342659" cy="7808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42659" cy="780847"/>
            </a:xfrm>
            <a:custGeom>
              <a:avLst/>
              <a:gdLst/>
              <a:ahLst/>
              <a:cxnLst/>
              <a:rect r="r" b="b" t="t" l="l"/>
              <a:pathLst>
                <a:path h="780847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764253"/>
                  </a:lnTo>
                  <a:cubicBezTo>
                    <a:pt x="2342659" y="773417"/>
                    <a:pt x="2335229" y="780847"/>
                    <a:pt x="2326064" y="780847"/>
                  </a:cubicBezTo>
                  <a:lnTo>
                    <a:pt x="16594" y="780847"/>
                  </a:lnTo>
                  <a:cubicBezTo>
                    <a:pt x="7430" y="780847"/>
                    <a:pt x="0" y="773417"/>
                    <a:pt x="0" y="764253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5725"/>
              <a:ext cx="2342659" cy="695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75489" y="6557226"/>
            <a:ext cx="6998061" cy="2362435"/>
            <a:chOff x="0" y="0"/>
            <a:chExt cx="2342659" cy="7908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42659" cy="790845"/>
            </a:xfrm>
            <a:custGeom>
              <a:avLst/>
              <a:gdLst/>
              <a:ahLst/>
              <a:cxnLst/>
              <a:rect r="r" b="b" t="t" l="l"/>
              <a:pathLst>
                <a:path h="790845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774250"/>
                  </a:lnTo>
                  <a:cubicBezTo>
                    <a:pt x="2342659" y="783415"/>
                    <a:pt x="2335229" y="790845"/>
                    <a:pt x="2326064" y="790845"/>
                  </a:cubicBezTo>
                  <a:lnTo>
                    <a:pt x="16594" y="790845"/>
                  </a:lnTo>
                  <a:cubicBezTo>
                    <a:pt x="7430" y="790845"/>
                    <a:pt x="0" y="783415"/>
                    <a:pt x="0" y="774250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2342659" cy="705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491672" y="4717783"/>
            <a:ext cx="1578952" cy="10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91672" y="7411266"/>
            <a:ext cx="1578952" cy="10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18908" y="1730935"/>
            <a:ext cx="4475564" cy="112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95"/>
              </a:lnSpc>
              <a:spcBef>
                <a:spcPct val="0"/>
              </a:spcBef>
            </a:pPr>
            <a:r>
              <a:rPr lang="en-US" b="true" sz="1700" spc="2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1-Us</a:t>
            </a:r>
            <a:r>
              <a:rPr lang="en-US" b="true" sz="1700" spc="27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 deep learning models like LSTM or BERT for better understanding of language context</a:t>
            </a:r>
          </a:p>
          <a:p>
            <a:pPr algn="just" marL="0" indent="0" lvl="0">
              <a:lnSpc>
                <a:spcPts val="2295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070625" y="4390214"/>
            <a:ext cx="4419373" cy="111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b="true" sz="1708" spc="2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2-T</a:t>
            </a:r>
            <a:r>
              <a:rPr lang="en-US" b="true" sz="1708" spc="27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ry more advanced vectorization techniques such as Word2Vec or transformer embeddings</a:t>
            </a:r>
          </a:p>
          <a:p>
            <a:pPr algn="just" marL="0" indent="0" lvl="0">
              <a:lnSpc>
                <a:spcPts val="2026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218908" y="7108374"/>
            <a:ext cx="4120836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3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3-C</a:t>
            </a:r>
            <a:r>
              <a:rPr lang="en-US" b="true" sz="1999" spc="31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ollect a larger and more diverse dataset to improve model generalization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848571" y="8919661"/>
            <a:ext cx="3870946" cy="950141"/>
          </a:xfrm>
          <a:custGeom>
            <a:avLst/>
            <a:gdLst/>
            <a:ahLst/>
            <a:cxnLst/>
            <a:rect r="r" b="b" t="t" l="l"/>
            <a:pathLst>
              <a:path h="950141" w="3870946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472906" y="-2364815"/>
            <a:ext cx="4980952" cy="3731186"/>
          </a:xfrm>
          <a:custGeom>
            <a:avLst/>
            <a:gdLst/>
            <a:ahLst/>
            <a:cxnLst/>
            <a:rect r="r" b="b" t="t" l="l"/>
            <a:pathLst>
              <a:path h="3731186" w="4980952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3431074" y="8919661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-848571" y="-744412"/>
            <a:ext cx="2597326" cy="2796583"/>
          </a:xfrm>
          <a:custGeom>
            <a:avLst/>
            <a:gdLst/>
            <a:ahLst/>
            <a:cxnLst/>
            <a:rect r="r" b="b" t="t" l="l"/>
            <a:pathLst>
              <a:path h="2796583" w="2597326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861489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30709" y="9258300"/>
            <a:ext cx="3059829" cy="751049"/>
          </a:xfrm>
          <a:custGeom>
            <a:avLst/>
            <a:gdLst/>
            <a:ahLst/>
            <a:cxnLst/>
            <a:rect r="r" b="b" t="t" l="l"/>
            <a:pathLst>
              <a:path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5205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686214" y="-2578193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409323" y="-2700100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831481" y="-1626507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7259300" y="2262342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570549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5282649">
            <a:off x="16440369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978638" y="-642644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3688802" y="3019867"/>
            <a:ext cx="10910396" cy="336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99"/>
              </a:lnSpc>
            </a:pPr>
            <a:r>
              <a:rPr lang="en-US" b="true" sz="145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DAGtOWGjgbE</dc:identifier>
  <dcterms:modified xsi:type="dcterms:W3CDTF">2011-08-01T06:04:30Z</dcterms:modified>
  <cp:revision>1</cp:revision>
  <dc:title>Blue Doodle Project Presentation</dc:title>
</cp:coreProperties>
</file>